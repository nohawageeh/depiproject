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9436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371600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Sales &amp;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47472" y="2029968"/>
            <a:ext cx="7772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Performance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47472" y="2834640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  •  DAX Measures  •  Interactive Analytics  •  2023–2025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" y="3383280"/>
            <a:ext cx="1965960" cy="109728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" y="3383280"/>
            <a:ext cx="196596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3456432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533.67M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47472" y="402336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23744" y="3383280"/>
            <a:ext cx="1965960" cy="109728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23744" y="3383280"/>
            <a:ext cx="196596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23744" y="3456432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79.71M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523744" y="402336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0016" y="3383280"/>
            <a:ext cx="1965960" cy="109728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0016" y="3383280"/>
            <a:ext cx="196596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3456432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700016" y="402336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76288" y="3383280"/>
            <a:ext cx="1965960" cy="109728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76288" y="3383280"/>
            <a:ext cx="196596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76288" y="3456432"/>
            <a:ext cx="1965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106.73K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76288" y="4023360"/>
            <a:ext cx="1965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47472" y="4663440"/>
            <a:ext cx="1572768" cy="347472"/>
          </a:xfrm>
          <a:prstGeom prst="rect">
            <a:avLst/>
          </a:prstGeom>
          <a:solidFill>
            <a:srgbClr val="C4447A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472" y="46634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066544" y="4663440"/>
            <a:ext cx="1572768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066544" y="46634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&amp; Profit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785616" y="4663440"/>
            <a:ext cx="1572768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85616" y="46634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04688" y="4663440"/>
            <a:ext cx="1572768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04688" y="46634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223760" y="4663440"/>
            <a:ext cx="1572768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23760" y="4663440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Impact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3840480" cy="352044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840480" cy="384048"/>
          </a:xfrm>
          <a:prstGeom prst="rect">
            <a:avLst/>
          </a:prstGeom>
          <a:solidFill>
            <a:srgbClr val="6B1E35"/>
          </a:solidFill>
          <a:ln w="12700">
            <a:solidFill>
              <a:srgbClr val="6B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unified view of sales performance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 tracking profitability trends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product/category intelligence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Unclear customer spending patterns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Unknown discount effectiveness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year-over-year growth view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77640" cy="352044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77640" cy="384048"/>
          </a:xfrm>
          <a:prstGeom prst="rect">
            <a:avLst/>
          </a:prstGeom>
          <a:solidFill>
            <a:srgbClr val="1A5E5E"/>
          </a:solidFill>
          <a:ln w="12700">
            <a:solidFill>
              <a:srgbClr val="1A5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97280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interactive Power BI dashboard transforming raw e-commerce data into strategic business intelligence.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61188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focused analytical dashboard pages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KPI cards with DAX measures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slicers &amp; cross-filtering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growth &amp; discount impact analysis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lifetime value &amp; AOV tracking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 &amp; DAX Measures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4A9B9B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533.67M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B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19385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751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SUM(Sales[Sales])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887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79.71M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19385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9751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SUM(Sales[Profit])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45B8A"/>
          </a:solidFill>
          <a:ln w="12700">
            <a:solidFill>
              <a:srgbClr val="D45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1887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72200" y="16459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5B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Margin 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53912" y="19385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9751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DIVIDE([Total_Profit],[Total_Sales])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26080"/>
            <a:ext cx="2697480" cy="64008"/>
          </a:xfrm>
          <a:prstGeom prst="rect">
            <a:avLst/>
          </a:prstGeom>
          <a:solidFill>
            <a:srgbClr val="8A5BD4"/>
          </a:solidFill>
          <a:ln w="12700">
            <a:solidFill>
              <a:srgbClr val="8A5B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106.73K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" y="34747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A5B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93192" y="37673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8039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DIVIDE([Total_Sales],[Order Count])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26080"/>
            <a:ext cx="26974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84.91%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91840" y="34747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Revenue Gr%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73552" y="37673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38039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DIVIDE([Sales]-[LY Sales],[LY Sales])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2926080"/>
            <a:ext cx="2697480" cy="16459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26080"/>
            <a:ext cx="26974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01752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4M–6M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72200" y="3474720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Impact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53912" y="3767328"/>
            <a:ext cx="2542032" cy="530352"/>
          </a:xfrm>
          <a:prstGeom prst="rect">
            <a:avLst/>
          </a:prstGeom>
          <a:solidFill>
            <a:srgbClr val="100818"/>
          </a:solidFill>
          <a:ln w="12700">
            <a:solidFill>
              <a:srgbClr val="10081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3803904"/>
            <a:ext cx="24505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DC4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[Total_Sales]-[Sales_No_Discount]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1 — Overview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7315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Sales &amp; Profit Performance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KPIs: Total Sales 533.67M  •  Profit Margin 15%  •  Total Profit 79.71M  •  AOV 106.73K  •  Payment Mode distribution  •  Monthly &amp; Category trends</a:t>
            </a:r>
            <a:endParaRPr lang="en-US" sz="850" dirty="0"/>
          </a:p>
        </p:txBody>
      </p:sp>
      <p:pic>
        <p:nvPicPr>
          <p:cNvPr id="9" name="Picture 8" descr="WhatsApp Image 2026-05-23 at 10.34.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86765"/>
            <a:ext cx="8564245" cy="3769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2 — Sales Performance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777240"/>
            <a:ext cx="54864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804672"/>
            <a:ext cx="2880360" cy="82296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804672"/>
            <a:ext cx="73152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8229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84.91%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72200" y="1161288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Growth — Strong year-over-year revenue expansion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737360"/>
            <a:ext cx="2880360" cy="82296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737360"/>
            <a:ext cx="73152" cy="822960"/>
          </a:xfrm>
          <a:prstGeom prst="rect">
            <a:avLst/>
          </a:prstGeom>
          <a:solidFill>
            <a:srgbClr val="4A9B9B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175564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288.61M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72200" y="2093976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LY — Last year baseline for comparison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2670048"/>
            <a:ext cx="2880360" cy="82296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2670048"/>
            <a:ext cx="73152" cy="82296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688336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200" y="3026664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Peak — Profit peaked at 40M+ before slight decline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3602736"/>
            <a:ext cx="2880360" cy="82296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3602736"/>
            <a:ext cx="73152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3621024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29.82M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172200" y="3959352"/>
            <a:ext cx="2697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YTD — Current year profit trending lower vs LY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Profit peaked in 2024 then declined — discounts may be compressing margins despite strong revenue growth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3 — Product &amp; Category Intelligence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777240"/>
            <a:ext cx="566928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804672"/>
            <a:ext cx="2697480" cy="374904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80467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27648" y="822960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27648" y="1298448"/>
            <a:ext cx="64008" cy="384048"/>
          </a:xfrm>
          <a:prstGeom prst="rect">
            <a:avLst/>
          </a:prstGeom>
          <a:solidFill>
            <a:srgbClr val="4A9B9B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0759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46520" y="149961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Decor leads in total sales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27648" y="1920240"/>
            <a:ext cx="64008" cy="384048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92938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Regions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46520" y="21214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East, West, North, South all at 25%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327648" y="2542032"/>
            <a:ext cx="64008" cy="384048"/>
          </a:xfrm>
          <a:prstGeom prst="rect">
            <a:avLst/>
          </a:prstGeom>
          <a:solidFill>
            <a:srgbClr val="D45B8A"/>
          </a:solidFill>
          <a:ln w="12700">
            <a:solidFill>
              <a:srgbClr val="D45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25511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Product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46520" y="274320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Headphones/Laptop highest profit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27648" y="3163824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317296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Furniture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46520" y="33649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Leads profit by category (treemap)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327648" y="3785616"/>
            <a:ext cx="64008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46520" y="3794760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Categories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46520" y="398678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 portfolio with diverse revenue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Visuals: Horizontal bar charts (Sales &amp; Profit)  •  Treemap (Profit by Category)  •  Pie chart (Regional distribution)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4 — Customer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0" y="777240"/>
            <a:ext cx="548640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9320" y="822960"/>
            <a:ext cx="2926080" cy="896112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822960"/>
            <a:ext cx="2926080" cy="64008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91440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110.17K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989320" y="137160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Lifetime Value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89320" y="1847088"/>
            <a:ext cx="2926080" cy="896112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1847088"/>
            <a:ext cx="2926080" cy="64008"/>
          </a:xfrm>
          <a:prstGeom prst="rect">
            <a:avLst/>
          </a:prstGeom>
          <a:solidFill>
            <a:srgbClr val="4A9B9B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938528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89320" y="2395728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871216"/>
            <a:ext cx="2926080" cy="896112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89320" y="2871216"/>
            <a:ext cx="2926080" cy="64008"/>
          </a:xfrm>
          <a:prstGeom prst="rect">
            <a:avLst/>
          </a:prstGeom>
          <a:solidFill>
            <a:srgbClr val="8A5BD4"/>
          </a:solidFill>
          <a:ln w="12700">
            <a:solidFill>
              <a:srgbClr val="8A5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962656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106.73K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989320" y="341985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8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 (AOV)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931920"/>
            <a:ext cx="2926080" cy="594360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9776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AOV declining from ~115K (Jul) to 95K (Jan) — indicates end-of-year spending compression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Visuals: Revenue per Customer bar chart  •  AOV by Month trend line  •  CLV &amp; Total Customers KPI cards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5 — Discount Impact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777240"/>
            <a:ext cx="50292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804672"/>
            <a:ext cx="3063240" cy="347472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89320" y="89611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Findings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1325880"/>
            <a:ext cx="2816352" cy="621792"/>
          </a:xfrm>
          <a:prstGeom prst="rect">
            <a:avLst/>
          </a:prstGeom>
          <a:solidFill>
            <a:srgbClr val="3A1540"/>
          </a:solidFill>
          <a:ln w="12700">
            <a:solidFill>
              <a:srgbClr val="D45B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80760" y="1362456"/>
            <a:ext cx="26334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~50M/month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80760" y="162763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total sales volumes across months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2057400"/>
            <a:ext cx="2816352" cy="621792"/>
          </a:xfrm>
          <a:prstGeom prst="rect">
            <a:avLst/>
          </a:prstGeom>
          <a:solidFill>
            <a:srgbClr val="3A1540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093976"/>
            <a:ext cx="26334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6M–7.5M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80760" y="235915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profit ranges, impacted by discounts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89320" y="2788920"/>
            <a:ext cx="2816352" cy="621792"/>
          </a:xfrm>
          <a:prstGeom prst="rect">
            <a:avLst/>
          </a:prstGeom>
          <a:solidFill>
            <a:srgbClr val="3A154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825496"/>
            <a:ext cx="26334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4M–6M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80760" y="309067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impact erodes margin quality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89320" y="3520440"/>
            <a:ext cx="2816352" cy="621792"/>
          </a:xfrm>
          <a:prstGeom prst="rect">
            <a:avLst/>
          </a:prstGeom>
          <a:solidFill>
            <a:srgbClr val="3A1540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3557016"/>
            <a:ext cx="26334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Declining trend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80760" y="3822192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decreasing from May to Feb — discount creep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81728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Visual: Line &amp; Clustered Column combo — Total_Profit, Total_Sales, and Discount Impact by Month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1030"/>
          </a:solidFill>
          <a:ln w="12700">
            <a:solidFill>
              <a:srgbClr val="5A2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Business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27AE6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338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Growth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YoY Revenue Growth of 84.91%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9768" y="190195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expansion from 2023 baseline to 2024 peak, with 2025 showing moderation.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07899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4A9B9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7899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338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B9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1481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 Profit Margin maintained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55848" y="190195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Profit peaked in 2024 at ~40M but is declining in 2025 — discount pressure suspected.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107899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C4447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7899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13385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1928" y="148132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Decor &amp; Furniture lead sales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81928" y="190195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categories with relatively even distribution. Headphones top product by profit.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8A5B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5351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083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5B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" y="33558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5,000 customers, CLV 110.17K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9768" y="37764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AOV declining from 115K (Jul) to 95K (Jan), signaling seasonal spending compression.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95351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E8A020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5351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0083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55848" y="33558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Discount impact: 4M–6M monthly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55848" y="37764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discount months correlate with lower profit. Promotions compress margins significantly.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953512"/>
            <a:ext cx="2697480" cy="1719072"/>
          </a:xfrm>
          <a:prstGeom prst="rect">
            <a:avLst/>
          </a:prstGeom>
          <a:solidFill>
            <a:srgbClr val="2D1030"/>
          </a:solidFill>
          <a:ln w="15240">
            <a:solidFill>
              <a:srgbClr val="D45B8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953512"/>
            <a:ext cx="2697480" cy="347472"/>
          </a:xfrm>
          <a:prstGeom prst="rect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008376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5B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81928" y="33558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25% share across all regions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81928" y="37764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geographic performance — no single region dominates; no underperformer either.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645920"/>
            <a:ext cx="4572000" cy="4572000"/>
          </a:xfrm>
          <a:prstGeom prst="ellipse">
            <a:avLst/>
          </a:prstGeom>
          <a:solidFill>
            <a:srgbClr val="3A1540"/>
          </a:solidFill>
          <a:ln w="12700">
            <a:solidFill>
              <a:srgbClr val="3A1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8B2252">
              <a:alpha val="20000"/>
            </a:srgbClr>
          </a:solidFill>
          <a:ln w="12700">
            <a:solidFill>
              <a:srgbClr val="8B225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444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Data to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Decisions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dashboard empowers the business to: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487168"/>
            <a:ext cx="91440" cy="256032"/>
          </a:xfrm>
          <a:prstGeom prst="rect">
            <a:avLst/>
          </a:prstGeom>
          <a:solidFill>
            <a:srgbClr val="4A9B9B"/>
          </a:solidFill>
          <a:ln w="12700">
            <a:solidFill>
              <a:srgbClr val="4A9B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5059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$533.67M in sales with 15%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871216"/>
            <a:ext cx="9144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84.91% YoY growth &amp; profit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255264"/>
            <a:ext cx="91440" cy="256032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18688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 10-category product portfolio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639312"/>
            <a:ext cx="91440" cy="256032"/>
          </a:xfrm>
          <a:prstGeom prst="rect">
            <a:avLst/>
          </a:prstGeom>
          <a:solidFill>
            <a:srgbClr val="8A5BD4"/>
          </a:solidFill>
          <a:ln w="12700">
            <a:solidFill>
              <a:srgbClr val="8A5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027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5K customers &amp; CLV patterns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4023360"/>
            <a:ext cx="9144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86784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4M–6M monthly discount impact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4407408"/>
            <a:ext cx="91440" cy="256032"/>
          </a:xfrm>
          <a:prstGeom prst="rect">
            <a:avLst/>
          </a:prstGeom>
          <a:solidFill>
            <a:srgbClr val="D45B8A"/>
          </a:solidFill>
          <a:ln w="12700">
            <a:solidFill>
              <a:srgbClr val="D45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70832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D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 on equal regional performance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645152"/>
            <a:ext cx="5760720" cy="384048"/>
          </a:xfrm>
          <a:prstGeom prst="rect">
            <a:avLst/>
          </a:prstGeom>
          <a:solidFill>
            <a:srgbClr val="C4447A"/>
          </a:solidFill>
          <a:ln w="12700">
            <a:solidFill>
              <a:srgbClr val="C444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4645152"/>
            <a:ext cx="5760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Reactive Reporting  →  Data-Driven Strategic Intelligence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3881</Words>
  <Application>WPS Presentation</Application>
  <PresentationFormat>On-screen Show (16:9)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Profit Performance</dc:title>
  <dc:creator>PptxGenJS</dc:creator>
  <dc:subject>PptxGenJS Presentation</dc:subject>
  <cp:lastModifiedBy>karim saed</cp:lastModifiedBy>
  <cp:revision>3</cp:revision>
  <dcterms:created xsi:type="dcterms:W3CDTF">2026-05-20T21:45:00Z</dcterms:created>
  <dcterms:modified xsi:type="dcterms:W3CDTF">2026-05-23T09:15:35Z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D50A8823CCE2496D942AE400C8374A5C_12</vt:lpwstr>
  </property>
  <property fmtid="{D5CDD505-2E9C-101B-9397-08002B2CF9AE}" pid="3" name="KSOProductBuildVer">
    <vt:lpwstr>1033-12.1.0.26372</vt:lpwstr>
  </property>
</Properties>
</file>